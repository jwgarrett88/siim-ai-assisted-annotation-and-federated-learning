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60" r:id="rId5"/>
    <p:sldId id="271" r:id="rId6"/>
    <p:sldId id="258" r:id="rId7"/>
    <p:sldId id="265" r:id="rId8"/>
    <p:sldId id="266" r:id="rId9"/>
    <p:sldId id="268" r:id="rId10"/>
    <p:sldId id="267" r:id="rId11"/>
    <p:sldId id="259" r:id="rId12"/>
    <p:sldId id="261" r:id="rId13"/>
    <p:sldId id="263" r:id="rId14"/>
    <p:sldId id="262" r:id="rId15"/>
    <p:sldId id="269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921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A798CA-CE3A-45F8-BAEB-C6717EB6EF2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A134173F-CB7C-4EAA-96B2-06C0457AEF75}">
      <dgm:prSet/>
      <dgm:spPr/>
      <dgm:t>
        <a:bodyPr/>
        <a:lstStyle/>
        <a:p>
          <a:r>
            <a:rPr lang="en-US" dirty="0"/>
            <a:t>Get inside </a:t>
          </a:r>
          <a:r>
            <a:rPr lang="en-US" dirty="0" err="1"/>
            <a:t>run_docker.sh</a:t>
          </a:r>
          <a:r>
            <a:rPr lang="en-US" dirty="0"/>
            <a:t> (It </a:t>
          </a:r>
          <a:r>
            <a:rPr lang="en-US" dirty="0" err="1"/>
            <a:t>sould</a:t>
          </a:r>
          <a:r>
            <a:rPr lang="en-US" dirty="0"/>
            <a:t> be at the same level of the downloaded toolkit).</a:t>
          </a:r>
        </a:p>
      </dgm:t>
    </dgm:pt>
    <dgm:pt modelId="{FC6C40BA-EF95-406A-96F1-3FD1ED9B94B2}" type="parTrans" cxnId="{50CE7AAF-42D4-4EC7-9781-48716F5BB4BE}">
      <dgm:prSet/>
      <dgm:spPr/>
      <dgm:t>
        <a:bodyPr/>
        <a:lstStyle/>
        <a:p>
          <a:endParaRPr lang="en-US"/>
        </a:p>
      </dgm:t>
    </dgm:pt>
    <dgm:pt modelId="{9DEA1F3F-A645-4099-BC4C-7DA56B436CB8}" type="sibTrans" cxnId="{50CE7AAF-42D4-4EC7-9781-48716F5BB4BE}">
      <dgm:prSet/>
      <dgm:spPr/>
      <dgm:t>
        <a:bodyPr/>
        <a:lstStyle/>
        <a:p>
          <a:endParaRPr lang="en-US"/>
        </a:p>
      </dgm:t>
    </dgm:pt>
    <dgm:pt modelId="{63D49319-E7A7-4EBC-886B-CA46228D2FA3}">
      <dgm:prSet/>
      <dgm:spPr/>
      <dgm:t>
        <a:bodyPr/>
        <a:lstStyle/>
        <a:p>
          <a:r>
            <a:rPr lang="en-US"/>
            <a:t>Change the site name, GPU2USE, data path and other info based on your own local site.</a:t>
          </a:r>
        </a:p>
      </dgm:t>
    </dgm:pt>
    <dgm:pt modelId="{6DA9CFA3-6924-4D32-A9DE-D772D735A9BA}" type="parTrans" cxnId="{073A70EC-A392-4A48-A8F2-8FC01ADE2879}">
      <dgm:prSet/>
      <dgm:spPr/>
      <dgm:t>
        <a:bodyPr/>
        <a:lstStyle/>
        <a:p>
          <a:endParaRPr lang="en-US"/>
        </a:p>
      </dgm:t>
    </dgm:pt>
    <dgm:pt modelId="{D896DFD8-67C5-47C2-90D2-624ED5923488}" type="sibTrans" cxnId="{073A70EC-A392-4A48-A8F2-8FC01ADE2879}">
      <dgm:prSet/>
      <dgm:spPr/>
      <dgm:t>
        <a:bodyPr/>
        <a:lstStyle/>
        <a:p>
          <a:endParaRPr lang="en-US"/>
        </a:p>
      </dgm:t>
    </dgm:pt>
    <dgm:pt modelId="{9A2DB90F-32D2-4345-8D07-0D7FCFC599BE}">
      <dgm:prSet/>
      <dgm:spPr/>
      <dgm:t>
        <a:bodyPr/>
        <a:lstStyle/>
        <a:p>
          <a:r>
            <a:rPr lang="en-US" dirty="0"/>
            <a:t>Run </a:t>
          </a:r>
          <a:r>
            <a:rPr lang="en-US" dirty="0" err="1"/>
            <a:t>run_docker.sh</a:t>
          </a:r>
          <a:r>
            <a:rPr lang="en-US" dirty="0"/>
            <a:t> </a:t>
          </a:r>
          <a:r>
            <a:rPr lang="en-US" dirty="0">
              <a:sym typeface="Wingdings" pitchFamily="2" charset="2"/>
            </a:rPr>
            <a:t>, for DGX01: </a:t>
          </a:r>
          <a:r>
            <a:rPr lang="en-US" dirty="0"/>
            <a:t>/raid/</a:t>
          </a:r>
          <a:r>
            <a:rPr lang="en-US" dirty="0" err="1"/>
            <a:t>DGXUserDataRaid</a:t>
          </a:r>
          <a:r>
            <a:rPr lang="en-US" dirty="0"/>
            <a:t>/sxz009/client_Test2$ ---</a:t>
          </a:r>
          <a:r>
            <a:rPr lang="en-US" dirty="0">
              <a:sym typeface="Wingdings" pitchFamily="2" charset="2"/>
            </a:rPr>
            <a:t></a:t>
          </a:r>
          <a:r>
            <a:rPr lang="en-US" dirty="0"/>
            <a:t>run_docker_client_2.sh</a:t>
          </a:r>
        </a:p>
        <a:p>
          <a:endParaRPr lang="en-US" dirty="0"/>
        </a:p>
        <a:p>
          <a:r>
            <a:rPr lang="en-US" dirty="0"/>
            <a:t>client_Test2</a:t>
          </a:r>
        </a:p>
        <a:p>
          <a:endParaRPr lang="en-US" dirty="0"/>
        </a:p>
        <a:p>
          <a:r>
            <a:rPr lang="en-US" dirty="0"/>
            <a:t>Run run_docker_client_1_divided_data_set_PET.sh for PET_CT, </a:t>
          </a:r>
        </a:p>
      </dgm:t>
    </dgm:pt>
    <dgm:pt modelId="{1E9EE37B-930F-4345-8EB7-CF983C42A1C7}" type="parTrans" cxnId="{A2546D5E-CC8C-42A3-A913-C03265CD98E0}">
      <dgm:prSet/>
      <dgm:spPr/>
      <dgm:t>
        <a:bodyPr/>
        <a:lstStyle/>
        <a:p>
          <a:endParaRPr lang="en-US"/>
        </a:p>
      </dgm:t>
    </dgm:pt>
    <dgm:pt modelId="{65A0B82E-CC6B-48BE-A732-D5E210A6B787}" type="sibTrans" cxnId="{A2546D5E-CC8C-42A3-A913-C03265CD98E0}">
      <dgm:prSet/>
      <dgm:spPr/>
      <dgm:t>
        <a:bodyPr/>
        <a:lstStyle/>
        <a:p>
          <a:endParaRPr lang="en-US"/>
        </a:p>
      </dgm:t>
    </dgm:pt>
    <dgm:pt modelId="{1DF997A4-8AAF-4624-BBBF-1EE9BD714342}" type="pres">
      <dgm:prSet presAssocID="{9BA798CA-CE3A-45F8-BAEB-C6717EB6EF27}" presName="root" presStyleCnt="0">
        <dgm:presLayoutVars>
          <dgm:dir/>
          <dgm:resizeHandles val="exact"/>
        </dgm:presLayoutVars>
      </dgm:prSet>
      <dgm:spPr/>
    </dgm:pt>
    <dgm:pt modelId="{E774EDF7-0246-4C68-BB0D-C3A9FB53DA32}" type="pres">
      <dgm:prSet presAssocID="{A134173F-CB7C-4EAA-96B2-06C0457AEF75}" presName="compNode" presStyleCnt="0"/>
      <dgm:spPr/>
    </dgm:pt>
    <dgm:pt modelId="{C089414B-9813-4E37-938A-8E0F2228CFEA}" type="pres">
      <dgm:prSet presAssocID="{A134173F-CB7C-4EAA-96B2-06C0457AEF75}" presName="bgRect" presStyleLbl="bgShp" presStyleIdx="0" presStyleCnt="3"/>
      <dgm:spPr/>
    </dgm:pt>
    <dgm:pt modelId="{348EB9B2-A7B6-49BE-B922-42E55A756C97}" type="pres">
      <dgm:prSet presAssocID="{A134173F-CB7C-4EAA-96B2-06C0457AEF7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E386844-EB48-4CBD-AA87-0A2EA078AC2C}" type="pres">
      <dgm:prSet presAssocID="{A134173F-CB7C-4EAA-96B2-06C0457AEF75}" presName="spaceRect" presStyleCnt="0"/>
      <dgm:spPr/>
    </dgm:pt>
    <dgm:pt modelId="{CAEC5E8A-426A-4871-B777-AAC40CE2AE8E}" type="pres">
      <dgm:prSet presAssocID="{A134173F-CB7C-4EAA-96B2-06C0457AEF75}" presName="parTx" presStyleLbl="revTx" presStyleIdx="0" presStyleCnt="3">
        <dgm:presLayoutVars>
          <dgm:chMax val="0"/>
          <dgm:chPref val="0"/>
        </dgm:presLayoutVars>
      </dgm:prSet>
      <dgm:spPr/>
    </dgm:pt>
    <dgm:pt modelId="{B6FC9E48-0C68-4786-9E0A-D481750449A8}" type="pres">
      <dgm:prSet presAssocID="{9DEA1F3F-A645-4099-BC4C-7DA56B436CB8}" presName="sibTrans" presStyleCnt="0"/>
      <dgm:spPr/>
    </dgm:pt>
    <dgm:pt modelId="{24CCD26B-5E07-4255-8555-2AC35556A342}" type="pres">
      <dgm:prSet presAssocID="{63D49319-E7A7-4EBC-886B-CA46228D2FA3}" presName="compNode" presStyleCnt="0"/>
      <dgm:spPr/>
    </dgm:pt>
    <dgm:pt modelId="{3561314D-6806-4A8E-8A91-323D3F4069AD}" type="pres">
      <dgm:prSet presAssocID="{63D49319-E7A7-4EBC-886B-CA46228D2FA3}" presName="bgRect" presStyleLbl="bgShp" presStyleIdx="1" presStyleCnt="3"/>
      <dgm:spPr/>
    </dgm:pt>
    <dgm:pt modelId="{850E28FC-A2E0-4F99-BC09-4F7D0F6F8A0A}" type="pres">
      <dgm:prSet presAssocID="{63D49319-E7A7-4EBC-886B-CA46228D2F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97EF144-7FCD-45A3-AA02-25D4DA7207C6}" type="pres">
      <dgm:prSet presAssocID="{63D49319-E7A7-4EBC-886B-CA46228D2FA3}" presName="spaceRect" presStyleCnt="0"/>
      <dgm:spPr/>
    </dgm:pt>
    <dgm:pt modelId="{4C518B1E-06CE-4D7E-8603-43E33E9F9A51}" type="pres">
      <dgm:prSet presAssocID="{63D49319-E7A7-4EBC-886B-CA46228D2FA3}" presName="parTx" presStyleLbl="revTx" presStyleIdx="1" presStyleCnt="3">
        <dgm:presLayoutVars>
          <dgm:chMax val="0"/>
          <dgm:chPref val="0"/>
        </dgm:presLayoutVars>
      </dgm:prSet>
      <dgm:spPr/>
    </dgm:pt>
    <dgm:pt modelId="{F07012CF-6741-4995-BFFE-8D143309D7AE}" type="pres">
      <dgm:prSet presAssocID="{D896DFD8-67C5-47C2-90D2-624ED5923488}" presName="sibTrans" presStyleCnt="0"/>
      <dgm:spPr/>
    </dgm:pt>
    <dgm:pt modelId="{BFA2E645-26D8-4443-B83B-4072141DB7BD}" type="pres">
      <dgm:prSet presAssocID="{9A2DB90F-32D2-4345-8D07-0D7FCFC599BE}" presName="compNode" presStyleCnt="0"/>
      <dgm:spPr/>
    </dgm:pt>
    <dgm:pt modelId="{0680E2B9-60A8-4BDF-BFBA-9BF9F43309E9}" type="pres">
      <dgm:prSet presAssocID="{9A2DB90F-32D2-4345-8D07-0D7FCFC599BE}" presName="bgRect" presStyleLbl="bgShp" presStyleIdx="2" presStyleCnt="3"/>
      <dgm:spPr/>
    </dgm:pt>
    <dgm:pt modelId="{90D4A53F-7F6E-4CCC-8BFB-FA2236C9F4E4}" type="pres">
      <dgm:prSet presAssocID="{9A2DB90F-32D2-4345-8D07-0D7FCFC599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6A91256-78E6-46FE-85CB-0351D4CFDB7F}" type="pres">
      <dgm:prSet presAssocID="{9A2DB90F-32D2-4345-8D07-0D7FCFC599BE}" presName="spaceRect" presStyleCnt="0"/>
      <dgm:spPr/>
    </dgm:pt>
    <dgm:pt modelId="{D51AAB24-05F9-4BBF-BFF0-1515E63058F9}" type="pres">
      <dgm:prSet presAssocID="{9A2DB90F-32D2-4345-8D07-0D7FCFC599B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2546D5E-CC8C-42A3-A913-C03265CD98E0}" srcId="{9BA798CA-CE3A-45F8-BAEB-C6717EB6EF27}" destId="{9A2DB90F-32D2-4345-8D07-0D7FCFC599BE}" srcOrd="2" destOrd="0" parTransId="{1E9EE37B-930F-4345-8EB7-CF983C42A1C7}" sibTransId="{65A0B82E-CC6B-48BE-A732-D5E210A6B787}"/>
    <dgm:cxn modelId="{8A73746B-A0DA-4B79-9E65-C31EC7E71168}" type="presOf" srcId="{63D49319-E7A7-4EBC-886B-CA46228D2FA3}" destId="{4C518B1E-06CE-4D7E-8603-43E33E9F9A51}" srcOrd="0" destOrd="0" presId="urn:microsoft.com/office/officeart/2018/2/layout/IconVerticalSolidList"/>
    <dgm:cxn modelId="{EF604F7F-92F6-4065-A0A2-02A3B36677E4}" type="presOf" srcId="{9BA798CA-CE3A-45F8-BAEB-C6717EB6EF27}" destId="{1DF997A4-8AAF-4624-BBBF-1EE9BD714342}" srcOrd="0" destOrd="0" presId="urn:microsoft.com/office/officeart/2018/2/layout/IconVerticalSolidList"/>
    <dgm:cxn modelId="{BB6177AA-654F-4835-B07A-BE410E9CF251}" type="presOf" srcId="{9A2DB90F-32D2-4345-8D07-0D7FCFC599BE}" destId="{D51AAB24-05F9-4BBF-BFF0-1515E63058F9}" srcOrd="0" destOrd="0" presId="urn:microsoft.com/office/officeart/2018/2/layout/IconVerticalSolidList"/>
    <dgm:cxn modelId="{50CE7AAF-42D4-4EC7-9781-48716F5BB4BE}" srcId="{9BA798CA-CE3A-45F8-BAEB-C6717EB6EF27}" destId="{A134173F-CB7C-4EAA-96B2-06C0457AEF75}" srcOrd="0" destOrd="0" parTransId="{FC6C40BA-EF95-406A-96F1-3FD1ED9B94B2}" sibTransId="{9DEA1F3F-A645-4099-BC4C-7DA56B436CB8}"/>
    <dgm:cxn modelId="{FB50FDBE-9182-4573-BC0F-ED3BFD273F84}" type="presOf" srcId="{A134173F-CB7C-4EAA-96B2-06C0457AEF75}" destId="{CAEC5E8A-426A-4871-B777-AAC40CE2AE8E}" srcOrd="0" destOrd="0" presId="urn:microsoft.com/office/officeart/2018/2/layout/IconVerticalSolidList"/>
    <dgm:cxn modelId="{073A70EC-A392-4A48-A8F2-8FC01ADE2879}" srcId="{9BA798CA-CE3A-45F8-BAEB-C6717EB6EF27}" destId="{63D49319-E7A7-4EBC-886B-CA46228D2FA3}" srcOrd="1" destOrd="0" parTransId="{6DA9CFA3-6924-4D32-A9DE-D772D735A9BA}" sibTransId="{D896DFD8-67C5-47C2-90D2-624ED5923488}"/>
    <dgm:cxn modelId="{E96F1F59-1EAC-4068-835F-3BCDA1DC7BB4}" type="presParOf" srcId="{1DF997A4-8AAF-4624-BBBF-1EE9BD714342}" destId="{E774EDF7-0246-4C68-BB0D-C3A9FB53DA32}" srcOrd="0" destOrd="0" presId="urn:microsoft.com/office/officeart/2018/2/layout/IconVerticalSolidList"/>
    <dgm:cxn modelId="{E4BA56F3-A4DC-47AD-9CC9-6EEE9B7E9B78}" type="presParOf" srcId="{E774EDF7-0246-4C68-BB0D-C3A9FB53DA32}" destId="{C089414B-9813-4E37-938A-8E0F2228CFEA}" srcOrd="0" destOrd="0" presId="urn:microsoft.com/office/officeart/2018/2/layout/IconVerticalSolidList"/>
    <dgm:cxn modelId="{9006FDEE-7855-4F12-91BE-8BA70562F679}" type="presParOf" srcId="{E774EDF7-0246-4C68-BB0D-C3A9FB53DA32}" destId="{348EB9B2-A7B6-49BE-B922-42E55A756C97}" srcOrd="1" destOrd="0" presId="urn:microsoft.com/office/officeart/2018/2/layout/IconVerticalSolidList"/>
    <dgm:cxn modelId="{B8377399-E751-4D4F-9FF4-BC210EF7BDE0}" type="presParOf" srcId="{E774EDF7-0246-4C68-BB0D-C3A9FB53DA32}" destId="{0E386844-EB48-4CBD-AA87-0A2EA078AC2C}" srcOrd="2" destOrd="0" presId="urn:microsoft.com/office/officeart/2018/2/layout/IconVerticalSolidList"/>
    <dgm:cxn modelId="{FA7F4B47-4F44-4082-9BEE-D20C0334896A}" type="presParOf" srcId="{E774EDF7-0246-4C68-BB0D-C3A9FB53DA32}" destId="{CAEC5E8A-426A-4871-B777-AAC40CE2AE8E}" srcOrd="3" destOrd="0" presId="urn:microsoft.com/office/officeart/2018/2/layout/IconVerticalSolidList"/>
    <dgm:cxn modelId="{3406ACFA-7A20-4A98-A172-6A67B3B6E7B4}" type="presParOf" srcId="{1DF997A4-8AAF-4624-BBBF-1EE9BD714342}" destId="{B6FC9E48-0C68-4786-9E0A-D481750449A8}" srcOrd="1" destOrd="0" presId="urn:microsoft.com/office/officeart/2018/2/layout/IconVerticalSolidList"/>
    <dgm:cxn modelId="{13B14762-19BF-477D-824F-FE6FA730AAB4}" type="presParOf" srcId="{1DF997A4-8AAF-4624-BBBF-1EE9BD714342}" destId="{24CCD26B-5E07-4255-8555-2AC35556A342}" srcOrd="2" destOrd="0" presId="urn:microsoft.com/office/officeart/2018/2/layout/IconVerticalSolidList"/>
    <dgm:cxn modelId="{48DBA95E-B73C-4713-843F-39A01471CEAF}" type="presParOf" srcId="{24CCD26B-5E07-4255-8555-2AC35556A342}" destId="{3561314D-6806-4A8E-8A91-323D3F4069AD}" srcOrd="0" destOrd="0" presId="urn:microsoft.com/office/officeart/2018/2/layout/IconVerticalSolidList"/>
    <dgm:cxn modelId="{091AA22D-29DE-4A00-81A1-48C8898387ED}" type="presParOf" srcId="{24CCD26B-5E07-4255-8555-2AC35556A342}" destId="{850E28FC-A2E0-4F99-BC09-4F7D0F6F8A0A}" srcOrd="1" destOrd="0" presId="urn:microsoft.com/office/officeart/2018/2/layout/IconVerticalSolidList"/>
    <dgm:cxn modelId="{E4346984-05A3-4CE4-A009-D24C0711B31F}" type="presParOf" srcId="{24CCD26B-5E07-4255-8555-2AC35556A342}" destId="{D97EF144-7FCD-45A3-AA02-25D4DA7207C6}" srcOrd="2" destOrd="0" presId="urn:microsoft.com/office/officeart/2018/2/layout/IconVerticalSolidList"/>
    <dgm:cxn modelId="{6B211416-7AE8-4068-BE4B-ED03F13FD3B8}" type="presParOf" srcId="{24CCD26B-5E07-4255-8555-2AC35556A342}" destId="{4C518B1E-06CE-4D7E-8603-43E33E9F9A51}" srcOrd="3" destOrd="0" presId="urn:microsoft.com/office/officeart/2018/2/layout/IconVerticalSolidList"/>
    <dgm:cxn modelId="{9A204D83-5999-491C-929D-7AF05DAD6854}" type="presParOf" srcId="{1DF997A4-8AAF-4624-BBBF-1EE9BD714342}" destId="{F07012CF-6741-4995-BFFE-8D143309D7AE}" srcOrd="3" destOrd="0" presId="urn:microsoft.com/office/officeart/2018/2/layout/IconVerticalSolidList"/>
    <dgm:cxn modelId="{8BDEAD31-E365-4360-983F-C4D80D686EEC}" type="presParOf" srcId="{1DF997A4-8AAF-4624-BBBF-1EE9BD714342}" destId="{BFA2E645-26D8-4443-B83B-4072141DB7BD}" srcOrd="4" destOrd="0" presId="urn:microsoft.com/office/officeart/2018/2/layout/IconVerticalSolidList"/>
    <dgm:cxn modelId="{0F4728E6-AB7A-4465-9034-630A571C2479}" type="presParOf" srcId="{BFA2E645-26D8-4443-B83B-4072141DB7BD}" destId="{0680E2B9-60A8-4BDF-BFBA-9BF9F43309E9}" srcOrd="0" destOrd="0" presId="urn:microsoft.com/office/officeart/2018/2/layout/IconVerticalSolidList"/>
    <dgm:cxn modelId="{29237F64-1FFC-4A24-9C5D-C2B9AEA68CF9}" type="presParOf" srcId="{BFA2E645-26D8-4443-B83B-4072141DB7BD}" destId="{90D4A53F-7F6E-4CCC-8BFB-FA2236C9F4E4}" srcOrd="1" destOrd="0" presId="urn:microsoft.com/office/officeart/2018/2/layout/IconVerticalSolidList"/>
    <dgm:cxn modelId="{80651C3A-57BD-4CB2-BFB0-4882D288B1A5}" type="presParOf" srcId="{BFA2E645-26D8-4443-B83B-4072141DB7BD}" destId="{16A91256-78E6-46FE-85CB-0351D4CFDB7F}" srcOrd="2" destOrd="0" presId="urn:microsoft.com/office/officeart/2018/2/layout/IconVerticalSolidList"/>
    <dgm:cxn modelId="{1FED2C0F-7929-4A58-BE42-8BCA75CBA68A}" type="presParOf" srcId="{BFA2E645-26D8-4443-B83B-4072141DB7BD}" destId="{D51AAB24-05F9-4BBF-BFF0-1515E63058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9414B-9813-4E37-938A-8E0F2228CFEA}">
      <dsp:nvSpPr>
        <dsp:cNvPr id="0" name=""/>
        <dsp:cNvSpPr/>
      </dsp:nvSpPr>
      <dsp:spPr>
        <a:xfrm>
          <a:off x="0" y="2496"/>
          <a:ext cx="10515600" cy="1277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EB9B2-A7B6-49BE-B922-42E55A756C97}">
      <dsp:nvSpPr>
        <dsp:cNvPr id="0" name=""/>
        <dsp:cNvSpPr/>
      </dsp:nvSpPr>
      <dsp:spPr>
        <a:xfrm>
          <a:off x="386426" y="289921"/>
          <a:ext cx="703280" cy="702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C5E8A-426A-4871-B777-AAC40CE2AE8E}">
      <dsp:nvSpPr>
        <dsp:cNvPr id="0" name=""/>
        <dsp:cNvSpPr/>
      </dsp:nvSpPr>
      <dsp:spPr>
        <a:xfrm>
          <a:off x="1476132" y="2496"/>
          <a:ext cx="8843523" cy="1278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328" tIns="135328" rIns="135328" bIns="13532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Get inside </a:t>
          </a:r>
          <a:r>
            <a:rPr lang="en-US" sz="1400" kern="1200" dirty="0" err="1"/>
            <a:t>run_docker.sh</a:t>
          </a:r>
          <a:r>
            <a:rPr lang="en-US" sz="1400" kern="1200" dirty="0"/>
            <a:t> (It </a:t>
          </a:r>
          <a:r>
            <a:rPr lang="en-US" sz="1400" kern="1200" dirty="0" err="1"/>
            <a:t>sould</a:t>
          </a:r>
          <a:r>
            <a:rPr lang="en-US" sz="1400" kern="1200" dirty="0"/>
            <a:t> be at the same level of the downloaded toolkit).</a:t>
          </a:r>
        </a:p>
      </dsp:txBody>
      <dsp:txXfrm>
        <a:off x="1476132" y="2496"/>
        <a:ext cx="8843523" cy="1278691"/>
      </dsp:txXfrm>
    </dsp:sp>
    <dsp:sp modelId="{3561314D-6806-4A8E-8A91-323D3F4069AD}">
      <dsp:nvSpPr>
        <dsp:cNvPr id="0" name=""/>
        <dsp:cNvSpPr/>
      </dsp:nvSpPr>
      <dsp:spPr>
        <a:xfrm>
          <a:off x="0" y="1536926"/>
          <a:ext cx="10515600" cy="1277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E28FC-A2E0-4F99-BC09-4F7D0F6F8A0A}">
      <dsp:nvSpPr>
        <dsp:cNvPr id="0" name=""/>
        <dsp:cNvSpPr/>
      </dsp:nvSpPr>
      <dsp:spPr>
        <a:xfrm>
          <a:off x="386426" y="1824350"/>
          <a:ext cx="703280" cy="702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18B1E-06CE-4D7E-8603-43E33E9F9A51}">
      <dsp:nvSpPr>
        <dsp:cNvPr id="0" name=""/>
        <dsp:cNvSpPr/>
      </dsp:nvSpPr>
      <dsp:spPr>
        <a:xfrm>
          <a:off x="1476132" y="1536926"/>
          <a:ext cx="8843523" cy="1278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328" tIns="135328" rIns="135328" bIns="13532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Change the site name, GPU2USE, data path and other info based on your own local site.</a:t>
          </a:r>
        </a:p>
      </dsp:txBody>
      <dsp:txXfrm>
        <a:off x="1476132" y="1536926"/>
        <a:ext cx="8843523" cy="1278691"/>
      </dsp:txXfrm>
    </dsp:sp>
    <dsp:sp modelId="{0680E2B9-60A8-4BDF-BFBA-9BF9F43309E9}">
      <dsp:nvSpPr>
        <dsp:cNvPr id="0" name=""/>
        <dsp:cNvSpPr/>
      </dsp:nvSpPr>
      <dsp:spPr>
        <a:xfrm>
          <a:off x="0" y="3071355"/>
          <a:ext cx="10515600" cy="1277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D4A53F-7F6E-4CCC-8BFB-FA2236C9F4E4}">
      <dsp:nvSpPr>
        <dsp:cNvPr id="0" name=""/>
        <dsp:cNvSpPr/>
      </dsp:nvSpPr>
      <dsp:spPr>
        <a:xfrm>
          <a:off x="386804" y="3358780"/>
          <a:ext cx="703280" cy="702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AAB24-05F9-4BBF-BFF0-1515E63058F9}">
      <dsp:nvSpPr>
        <dsp:cNvPr id="0" name=""/>
        <dsp:cNvSpPr/>
      </dsp:nvSpPr>
      <dsp:spPr>
        <a:xfrm>
          <a:off x="1476888" y="3071355"/>
          <a:ext cx="8843523" cy="1278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328" tIns="135328" rIns="135328" bIns="13532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Run </a:t>
          </a:r>
          <a:r>
            <a:rPr lang="en-US" sz="1400" kern="1200" dirty="0" err="1"/>
            <a:t>run_docker.sh</a:t>
          </a:r>
          <a:r>
            <a:rPr lang="en-US" sz="1400" kern="1200" dirty="0"/>
            <a:t> </a:t>
          </a:r>
          <a:r>
            <a:rPr lang="en-US" sz="1400" kern="1200" dirty="0">
              <a:sym typeface="Wingdings" pitchFamily="2" charset="2"/>
            </a:rPr>
            <a:t>, for DGX01: </a:t>
          </a:r>
          <a:r>
            <a:rPr lang="en-US" sz="1400" kern="1200" dirty="0"/>
            <a:t>/raid/</a:t>
          </a:r>
          <a:r>
            <a:rPr lang="en-US" sz="1400" kern="1200" dirty="0" err="1"/>
            <a:t>DGXUserDataRaid</a:t>
          </a:r>
          <a:r>
            <a:rPr lang="en-US" sz="1400" kern="1200" dirty="0"/>
            <a:t>/sxz009/client_Test2$ ---</a:t>
          </a:r>
          <a:r>
            <a:rPr lang="en-US" sz="1400" kern="1200" dirty="0">
              <a:sym typeface="Wingdings" pitchFamily="2" charset="2"/>
            </a:rPr>
            <a:t></a:t>
          </a:r>
          <a:r>
            <a:rPr lang="en-US" sz="1400" kern="1200" dirty="0"/>
            <a:t>run_docker_client_2.sh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client_Test2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Run run_docker_client_1_divided_data_set_PET.sh for PET_CT, </a:t>
          </a:r>
        </a:p>
      </dsp:txBody>
      <dsp:txXfrm>
        <a:off x="1476888" y="3071355"/>
        <a:ext cx="8843523" cy="12786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8CF5-5429-05B1-22B0-A8FE66401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D8030-5E46-A5E1-84B8-7EF2AFE9C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5D330-956F-0138-FE0B-BD68D7A4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D7ED5-422A-4DC1-7F66-3E8298513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0701-1616-8BCC-FBCA-AC7BBBC73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2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ED4D-32B7-7E4C-9E31-8A5C92CE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4C536-B2AD-5BB4-7776-EFE6814D6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BD0C3-8479-6224-D28B-6C09A0077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B4B7A-C93D-C3BB-9294-A4C17CB7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E26DA-C0EF-B8F9-7CE8-350B1268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8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2F42-3FD5-6059-880B-29B61576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555DA-B704-384B-67B8-268E52F9D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6FFC6-2F85-9CEC-2DEA-A32DB29A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AE275-28CC-7A02-FBED-5010A1FA2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12B3-E6D7-9117-9B29-96D55BF6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3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4A65-AF7A-92AC-46E8-17F5466F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00192-B2DA-0C5B-5A74-6B5C64CF0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7E683-6008-6BF5-552B-7B7269337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4E62F-0B64-2E7E-D8AC-E05D9A1EC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27501-69BB-C8AD-2324-A4E19B0F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74ED6-4842-1DC8-FAE6-16866C65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30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3D5F-105D-99F8-A118-AEF7B9B0E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B143A-C3BF-8CE7-2490-53C74FF47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6C37D-A4C4-FABD-7352-C27D1B6EA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F0B97-C597-99D4-BD38-133E96AFC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0E555-8685-2EA5-E445-B5174B26E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A3074-DBCB-97A3-3A07-FE8A18E3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65FE6-A7C0-A4AD-FF2E-03D94ADB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431549-D819-C538-3A9E-217EE993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8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5CF3-B88D-17FD-20C6-FD85B1F6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62133-C732-F9B7-072B-B345C714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368C3-7BF5-B4BF-CA1E-EEB8626A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F3AAE-2DEC-BEFC-9DA2-5B54E2FF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62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E01C6-4D06-F995-2162-0836984C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C72AB-4BF9-CE8E-B9DE-05A8F24E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DCF60-6471-C3B3-A6CB-60DEA26F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4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A74C-B3C3-9B30-EF9E-85A493CC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318B-0561-CFF6-3AFA-CF5ED860D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90675-5F70-9C05-00A7-47987C305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2DEA0-1CAA-B403-8E06-67A044F5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655C3-701C-1EE1-B7D0-009D58F6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E7739-B163-72C6-0269-717474C8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3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11A2-DDC2-C0CD-E379-AD1840130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3E0A3-1084-23FF-045A-6A6E050A2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6B513-B803-88D2-AB52-E6CC4B665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F9703-B1BF-E5B6-8612-4B5275E3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B4EF5-3DA5-72DC-6796-7A7AB84B2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3B2C-33BC-EB0C-751D-2A9EC37D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0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37EC-9220-BA8B-AB31-84A75DDA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CC521-9A69-AAEE-631F-79D9FB0E1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A5D53-01A0-C84D-3B50-ACB7F2067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614B4-E20F-A775-1AE8-1BEDB467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09948-D03C-4230-6246-90BB7DDD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63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03414E-D77B-B72C-A175-DE51466B6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2E5A7-65C4-81D7-9389-492A1D672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80D2E-434D-FCAA-17E3-8567B2955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E246C-BBD0-AAA0-FA3D-56ABAFF0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AC7C3-C6D0-4DA3-1647-958A1974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3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BB59E-ED27-1552-87E5-8365B190C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7C2A7-5D43-8C37-2C76-80F9F488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C009B-31BA-3F9D-8D6A-09FF6B0D6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3C6C1-CD20-B544-AC04-DC81E311BB32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306AE-688E-83C6-4186-F1DE8238F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AEA1F-4953-DCB8-AF97-00CCFB3AD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EB895-32F9-6242-B881-AE578837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36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ubuntu@ec2-3-142-69-10.us-east-2.compute.amazonaws.com:Test_Project_1/Admin_toolkit/zareestakhra@wisc.edu_aws/transfer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piCuRus-dude/NVFlare-FedLEarning/tree/develop/FlyWheeland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7D74D-21EB-B20C-8731-0C2ECBD6A6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FE3BF-6DFF-D8B3-19C6-61A0769EC6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54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0C94F-5EEC-9D3A-BE01-567234E100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350977-E723-D98E-DE2C-5B071C224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54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767A-17F2-5FAD-4F81-D08408DD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a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0331E-2B14-63EE-0600-F91F8C59E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need start the dashboard with the port in “cd to ./.local/bin” using ”./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nflare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dashboard –start –p 8765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82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C62E-9A28-F2F6-60BF-6AD20A6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Admin: Run the docker on the server to start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F70C-31CD-12A3-EBC3-85DA32CD7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Run the bash file which makes the docker.</a:t>
            </a: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Make sure that the </a:t>
            </a:r>
            <a:r>
              <a:rPr lang="en-US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SITE=… has the same name as the downloaded kit for the “site”.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Inside the docker navigate to the directory of downloaded kit (with DNS name),</a:t>
            </a: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navigate to /startup folder and run “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start.sh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857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2F24-6EEB-55CD-FCCC-6482D13A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dockers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70B44-652A-9154-C29D-8457E10EA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you’ll two dockers one for the dashboard using ./</a:t>
            </a:r>
            <a:r>
              <a:rPr lang="en-US" dirty="0" err="1"/>
              <a:t>nflare</a:t>
            </a:r>
            <a:r>
              <a:rPr lang="en-US" dirty="0"/>
              <a:t> –start –p…, and one for the server running run the docker. It seems as you have both on the same server it works and it connects them. You need to </a:t>
            </a:r>
            <a:r>
              <a:rPr lang="en-US" dirty="0" err="1"/>
              <a:t>ssh</a:t>
            </a:r>
            <a:r>
              <a:rPr lang="en-US" dirty="0"/>
              <a:t> to “</a:t>
            </a:r>
            <a:r>
              <a:rPr lang="en-US" dirty="0" err="1"/>
              <a:t>ssh</a:t>
            </a:r>
            <a:r>
              <a:rPr lang="en-US" dirty="0"/>
              <a:t> –L ..” to the port specified for ./</a:t>
            </a:r>
            <a:r>
              <a:rPr lang="en-US" dirty="0" err="1"/>
              <a:t>nvflare</a:t>
            </a:r>
            <a:r>
              <a:rPr lang="en-US" dirty="0"/>
              <a:t> dashboard –start –p, and not the one in </a:t>
            </a:r>
            <a:r>
              <a:rPr lang="en-US" dirty="0" err="1"/>
              <a:t>run_docker.sh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Then after running the docker in the next slide you go to the directory of the admin “</a:t>
            </a:r>
            <a:r>
              <a:rPr lang="en-US" dirty="0" err="1"/>
              <a:t>zareestakhra</a:t>
            </a:r>
            <a:r>
              <a:rPr lang="en-US" dirty="0"/>
              <a:t>” and startup folder and run “</a:t>
            </a:r>
            <a:r>
              <a:rPr lang="en-US" dirty="0" err="1"/>
              <a:t>fl_admin.sh</a:t>
            </a:r>
            <a:r>
              <a:rPr lang="en-US"/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948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22F9-4F2E-BEE8-A101-EC2B84FF3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/>
              <a:t>Client: Run the docker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780BFB-97C8-BCD6-5EAD-2D4280109F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995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CBA6-4362-8B7C-EA93-755B1EF4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everything to the server: the running job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BAD63-F26E-EC88-669B-A60720CD3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scp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-r -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"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NVIDIA_Flare_Test.pem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 /Users/sxz009/Downloads/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Best_PET_CT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  <a:hlinkClick r:id="rId2"/>
              </a:rPr>
              <a:t>ubuntu@ec2-3-142-69-10.us-east-2.compute.amazonaws.com:Test_Project_1/Admin_toolkit/zareestakhra@wisc.edu_aws/transfer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620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75C5-D74F-9FB2-B936-D723DA81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Final-siim-1-worked without cross-site validation!</a:t>
            </a:r>
            <a:br>
              <a:rPr lang="en-US" dirty="0"/>
            </a:br>
            <a:r>
              <a:rPr lang="en-US" b="1" dirty="0">
                <a:solidFill>
                  <a:srgbClr val="3B00D4"/>
                </a:solidFill>
                <a:effectLst/>
                <a:latin typeface="Menlo" panose="020B0609030804020204" pitchFamily="49" charset="0"/>
              </a:rPr>
              <a:t>PET_CT_FROM_CT_10_2</a:t>
            </a:r>
            <a:br>
              <a:rPr lang="en-US" dirty="0">
                <a:solidFill>
                  <a:srgbClr val="3B00D4"/>
                </a:solidFill>
                <a:effectLst/>
                <a:latin typeface="Menlo" panose="020B0609030804020204" pitchFamily="49" charset="0"/>
              </a:rPr>
            </a:br>
            <a:r>
              <a:rPr lang="en-US" dirty="0">
                <a:solidFill>
                  <a:srgbClr val="3B00D4"/>
                </a:solidFill>
                <a:effectLst/>
                <a:latin typeface="Menlo" panose="020B0609030804020204" pitchFamily="49" charset="0"/>
              </a:rPr>
              <a:t>Worked for two </a:t>
            </a:r>
            <a:r>
              <a:rPr lang="en-US" dirty="0" err="1">
                <a:solidFill>
                  <a:srgbClr val="3B00D4"/>
                </a:solidFill>
                <a:effectLst/>
                <a:latin typeface="Menlo" panose="020B0609030804020204" pitchFamily="49" charset="0"/>
              </a:rPr>
              <a:t>clienbts</a:t>
            </a:r>
            <a:r>
              <a:rPr lang="en-US" dirty="0">
                <a:solidFill>
                  <a:srgbClr val="3B00D4"/>
                </a:solidFill>
                <a:effectLst/>
                <a:latin typeface="Menlo" panose="020B0609030804020204" pitchFamily="49" charset="0"/>
              </a:rPr>
              <a:t> with cross site-validation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EA512-2E79-1C34-77CE-AFCCBD4CE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500" dirty="0">
                <a:effectLst/>
                <a:latin typeface="Andale Mono" panose="020B0509000000000004" pitchFamily="49" charset="0"/>
              </a:rPr>
              <a:t> </a:t>
            </a:r>
            <a:r>
              <a:rPr lang="en-US" sz="1500" dirty="0" err="1">
                <a:effectLst/>
                <a:latin typeface="Andale Mono" panose="020B0509000000000004" pitchFamily="49" charset="0"/>
              </a:rPr>
              <a:t>self.app_root</a:t>
            </a:r>
            <a:r>
              <a:rPr lang="en-US" sz="1500" dirty="0">
                <a:effectLst/>
                <a:latin typeface="Andale Mono" panose="020B0509000000000004" pitchFamily="49" charset="0"/>
              </a:rPr>
              <a:t>: is where the job is running on each local site.</a:t>
            </a:r>
          </a:p>
          <a:p>
            <a:endParaRPr lang="en-US" sz="1500" dirty="0">
              <a:effectLst/>
              <a:latin typeface="Andale Mono" panose="020B0509000000000004" pitchFamily="49" charset="0"/>
            </a:endParaRPr>
          </a:p>
          <a:p>
            <a:r>
              <a:rPr lang="en-US" sz="1500" dirty="0">
                <a:latin typeface="Andale Mono" panose="020B0509000000000004" pitchFamily="49" charset="0"/>
              </a:rPr>
              <a:t>Whatever you have in the __</a:t>
            </a:r>
            <a:r>
              <a:rPr lang="en-US" sz="1500" dirty="0" err="1">
                <a:latin typeface="Andale Mono" panose="020B0509000000000004" pitchFamily="49" charset="0"/>
              </a:rPr>
              <a:t>init</a:t>
            </a:r>
            <a:r>
              <a:rPr lang="en-US" sz="1500" dirty="0">
                <a:latin typeface="Andale Mono" panose="020B0509000000000004" pitchFamily="49" charset="0"/>
              </a:rPr>
              <a:t>__ of a learner comes from the fed-client </a:t>
            </a:r>
            <a:r>
              <a:rPr lang="en-US" sz="1500" dirty="0" err="1">
                <a:latin typeface="Andale Mono" panose="020B0509000000000004" pitchFamily="49" charset="0"/>
              </a:rPr>
              <a:t>json</a:t>
            </a:r>
            <a:r>
              <a:rPr lang="en-US" sz="1500" dirty="0">
                <a:latin typeface="Andale Mono" panose="020B0509000000000004" pitchFamily="49" charset="0"/>
              </a:rPr>
              <a:t> file and the components part</a:t>
            </a:r>
            <a:endParaRPr lang="en-US" sz="1500" dirty="0">
              <a:effectLst/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581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B595-4B7F-2CAC-8522-F6E23A19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B15B7-6A82-9742-F405-524379210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Local model exists in </a:t>
            </a:r>
            <a:r>
              <a:rPr lang="en-US" dirty="0" err="1"/>
              <a:t>self.model</a:t>
            </a:r>
            <a:r>
              <a:rPr lang="en-US" dirty="0"/>
              <a:t> =…</a:t>
            </a:r>
          </a:p>
          <a:p>
            <a:endParaRPr lang="en-US" dirty="0"/>
          </a:p>
          <a:p>
            <a:r>
              <a:rPr lang="en-US" dirty="0"/>
              <a:t>Global model exist in </a:t>
            </a:r>
            <a:r>
              <a:rPr lang="en-US" dirty="0" err="1"/>
              <a:t>server.json</a:t>
            </a:r>
            <a:r>
              <a:rPr lang="en-US" dirty="0"/>
              <a:t> file, in</a:t>
            </a:r>
          </a:p>
          <a:p>
            <a:endParaRPr lang="en-US" dirty="0"/>
          </a:p>
          <a:p>
            <a:r>
              <a:rPr lang="en-US" dirty="0"/>
              <a:t>"components": [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"id": "</a:t>
            </a:r>
            <a:r>
              <a:rPr lang="en-US" dirty="0" err="1"/>
              <a:t>persistor</a:t>
            </a:r>
            <a:r>
              <a:rPr lang="en-US" dirty="0"/>
              <a:t>",</a:t>
            </a:r>
          </a:p>
          <a:p>
            <a:r>
              <a:rPr lang="en-US" dirty="0"/>
              <a:t>      "name": "</a:t>
            </a:r>
            <a:r>
              <a:rPr lang="en-US" dirty="0" err="1"/>
              <a:t>PTFileModelPersistor</a:t>
            </a:r>
            <a:r>
              <a:rPr lang="en-US" dirty="0"/>
              <a:t>",</a:t>
            </a:r>
          </a:p>
          <a:p>
            <a:r>
              <a:rPr lang="en-US" dirty="0"/>
              <a:t>      "</a:t>
            </a:r>
            <a:r>
              <a:rPr lang="en-US" dirty="0" err="1"/>
              <a:t>args</a:t>
            </a:r>
            <a:r>
              <a:rPr lang="en-US" dirty="0"/>
              <a:t>": {</a:t>
            </a:r>
          </a:p>
          <a:p>
            <a:r>
              <a:rPr lang="en-US" dirty="0"/>
              <a:t>        "model": {</a:t>
            </a:r>
          </a:p>
          <a:p>
            <a:r>
              <a:rPr lang="en-US" dirty="0"/>
              <a:t>          "path": "</a:t>
            </a:r>
            <a:r>
              <a:rPr lang="en-US" dirty="0" err="1"/>
              <a:t>pt.networks.simple_network.SimpleNetwork</a:t>
            </a:r>
            <a:r>
              <a:rPr lang="en-US" dirty="0"/>
              <a:t>",</a:t>
            </a:r>
          </a:p>
          <a:p>
            <a:r>
              <a:rPr lang="en-US" dirty="0"/>
              <a:t>	      "</a:t>
            </a:r>
            <a:r>
              <a:rPr lang="en-US" dirty="0" err="1"/>
              <a:t>args</a:t>
            </a:r>
            <a:r>
              <a:rPr lang="en-US" dirty="0"/>
              <a:t>": {}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}</a:t>
            </a:r>
          </a:p>
          <a:p>
            <a:r>
              <a:rPr lang="en-US" dirty="0"/>
              <a:t>    },</a:t>
            </a:r>
          </a:p>
        </p:txBody>
      </p:sp>
    </p:spTree>
    <p:extLst>
      <p:ext uri="{BB962C8B-B14F-4D97-AF65-F5344CB8AC3E}">
        <p14:creationId xmlns:p14="http://schemas.microsoft.com/office/powerpoint/2010/main" val="862055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41DA-DF9D-7AAF-2FD1-E6ED8D58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make r for the dataset exists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973C5-AB5A-841E-EE7F-5AF886966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500" dirty="0"/>
              <a:t>BTCV/List_Maker_for_Siim-Site_1.ipynb</a:t>
            </a:r>
          </a:p>
          <a:p>
            <a:endParaRPr lang="en-US" sz="1500" dirty="0"/>
          </a:p>
          <a:p>
            <a:r>
              <a:rPr lang="en-US" sz="1500" dirty="0"/>
              <a:t>After making the </a:t>
            </a:r>
            <a:r>
              <a:rPr lang="en-US" sz="1500" dirty="0" err="1"/>
              <a:t>list.json</a:t>
            </a:r>
            <a:r>
              <a:rPr lang="en-US" sz="1500" dirty="0"/>
              <a:t> for each site, copy them where data folder and labels exists for each site, and rename them to “</a:t>
            </a:r>
            <a:r>
              <a:rPr lang="en-US" sz="1500" b="1" dirty="0" err="1"/>
              <a:t>data_list.json</a:t>
            </a:r>
            <a:r>
              <a:rPr lang="en-US" sz="1500" dirty="0"/>
              <a:t>”, so each site should have this </a:t>
            </a:r>
            <a:r>
              <a:rPr lang="en-US" sz="1500" dirty="0" err="1"/>
              <a:t>data_list.json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/>
              <a:t>In </a:t>
            </a:r>
            <a:r>
              <a:rPr lang="en-US" sz="15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run_docker_client_2_divided_data_set_siim.sh</a:t>
            </a:r>
          </a:p>
          <a:p>
            <a:pPr marL="0" indent="0">
              <a:buNone/>
            </a:pPr>
            <a:r>
              <a:rPr lang="en-US" sz="1500" dirty="0"/>
              <a:t>You should change the mounting –v to: </a:t>
            </a:r>
            <a:r>
              <a:rPr lang="en-US" sz="15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/</a:t>
            </a:r>
            <a:r>
              <a:rPr lang="en-US" sz="15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mnt</a:t>
            </a:r>
            <a:r>
              <a:rPr lang="en-US" sz="15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/</a:t>
            </a:r>
            <a:r>
              <a:rPr lang="en-US" sz="15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DGXUserData</a:t>
            </a:r>
            <a:r>
              <a:rPr lang="en-US" sz="15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/sxz009/BTCV/</a:t>
            </a:r>
            <a:r>
              <a:rPr lang="en-US" sz="15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Fed_Training</a:t>
            </a:r>
            <a:r>
              <a:rPr lang="en-US" sz="15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/Site_2_Test</a:t>
            </a:r>
            <a:r>
              <a:rPr lang="en-US" sz="15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:</a:t>
            </a:r>
            <a:r>
              <a:rPr lang="en-US" sz="15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/workspace/</a:t>
            </a:r>
            <a:r>
              <a:rPr lang="en-US" sz="15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$SITE</a:t>
            </a:r>
            <a:r>
              <a:rPr lang="en-US" sz="15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/</a:t>
            </a:r>
            <a:r>
              <a:rPr lang="en-US" sz="15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DataSet</a:t>
            </a:r>
            <a:endParaRPr lang="en-US" sz="15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FFF12"/>
                </a:solidFill>
                <a:latin typeface="Andale Mono" panose="020B0509000000000004" pitchFamily="49" charset="0"/>
              </a:rPr>
              <a:t>For </a:t>
            </a:r>
            <a:r>
              <a:rPr lang="en-US" sz="1500" dirty="0">
                <a:solidFill>
                  <a:srgbClr val="FF0000"/>
                </a:solidFill>
                <a:latin typeface="Andale Mono" panose="020B0509000000000004" pitchFamily="49" charset="0"/>
              </a:rPr>
              <a:t>example inside the </a:t>
            </a:r>
            <a:r>
              <a:rPr lang="en-US" sz="1500" dirty="0" err="1">
                <a:solidFill>
                  <a:srgbClr val="FF0000"/>
                </a:solidFill>
                <a:latin typeface="Andale Mono" panose="020B0509000000000004" pitchFamily="49" charset="0"/>
              </a:rPr>
              <a:t>json</a:t>
            </a:r>
            <a:r>
              <a:rPr lang="en-US" sz="1500" dirty="0">
                <a:solidFill>
                  <a:srgbClr val="FF0000"/>
                </a:solidFill>
                <a:latin typeface="Andale Mono" panose="020B0509000000000004" pitchFamily="49" charset="0"/>
              </a:rPr>
              <a:t> file for site 1 you see: </a:t>
            </a:r>
            <a:r>
              <a:rPr lang="en-US" sz="1100" b="1" i="0" u="none" strike="noStrike" dirty="0">
                <a:effectLst/>
                <a:latin typeface="Menlo" panose="020B0609030804020204" pitchFamily="49" charset="0"/>
              </a:rPr>
              <a:t>image: </a:t>
            </a:r>
            <a:r>
              <a:rPr lang="en-US" sz="1100" b="0" i="0" u="none" strike="noStrike" dirty="0">
                <a:effectLst/>
                <a:latin typeface="Menlo" panose="020B0609030804020204" pitchFamily="49" charset="0"/>
              </a:rPr>
              <a:t>"./</a:t>
            </a:r>
            <a:r>
              <a:rPr lang="en-US" sz="1100" b="0" i="0" u="none" strike="noStrike" dirty="0" err="1">
                <a:effectLst/>
                <a:latin typeface="Menlo" panose="020B0609030804020204" pitchFamily="49" charset="0"/>
              </a:rPr>
              <a:t>For_FedTraining</a:t>
            </a:r>
            <a:r>
              <a:rPr lang="en-US" sz="1100" b="0" i="0" u="none" strike="noStrike" dirty="0">
                <a:effectLst/>
                <a:latin typeface="Menlo" panose="020B0609030804020204" pitchFamily="49" charset="0"/>
              </a:rPr>
              <a:t>/data/10.nii"</a:t>
            </a: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en-US" sz="1100" b="1" i="0" u="none" strike="noStrike" dirty="0">
                <a:effectLst/>
                <a:latin typeface="Menlo" panose="020B0609030804020204" pitchFamily="49" charset="0"/>
              </a:rPr>
              <a:t>label: </a:t>
            </a:r>
            <a:r>
              <a:rPr lang="en-US" sz="1100" b="0" i="0" u="none" strike="noStrike" dirty="0">
                <a:effectLst/>
                <a:latin typeface="Menlo" panose="020B0609030804020204" pitchFamily="49" charset="0"/>
              </a:rPr>
              <a:t>"./</a:t>
            </a:r>
            <a:r>
              <a:rPr lang="en-US" sz="1100" b="0" i="0" u="none" strike="noStrike" dirty="0" err="1">
                <a:effectLst/>
                <a:latin typeface="Menlo" panose="020B0609030804020204" pitchFamily="49" charset="0"/>
              </a:rPr>
              <a:t>For_FedTraining</a:t>
            </a:r>
            <a:r>
              <a:rPr lang="en-US" sz="1100" b="0" i="0" u="none" strike="noStrike" dirty="0">
                <a:effectLst/>
                <a:latin typeface="Menlo" panose="020B0609030804020204" pitchFamily="49" charset="0"/>
              </a:rPr>
              <a:t>/labels/10.nii"</a:t>
            </a:r>
          </a:p>
          <a:p>
            <a:r>
              <a:rPr lang="en-US" sz="1500" dirty="0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This “</a:t>
            </a:r>
            <a:r>
              <a:rPr lang="en-US" sz="1600" b="0" i="0" u="none" strike="noStrike" dirty="0">
                <a:effectLst/>
                <a:latin typeface="Menlo" panose="020B0609030804020204" pitchFamily="49" charset="0"/>
              </a:rPr>
              <a:t>./” in the address of image and label </a:t>
            </a:r>
            <a:r>
              <a:rPr lang="en-US" sz="1600" b="0" i="0" u="none" strike="noStrike" dirty="0" err="1">
                <a:effectLst/>
                <a:latin typeface="Menlo" panose="020B0609030804020204" pitchFamily="49" charset="0"/>
              </a:rPr>
              <a:t>indocates</a:t>
            </a:r>
            <a:r>
              <a:rPr lang="en-US" sz="1600" b="0" i="0" u="none" strike="noStrike" dirty="0">
                <a:effectLst/>
                <a:latin typeface="Menlo" panose="020B0609030804020204" pitchFamily="49" charset="0"/>
              </a:rPr>
              <a:t> of </a:t>
            </a:r>
            <a:r>
              <a:rPr lang="en-US" sz="1500" dirty="0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/</a:t>
            </a:r>
            <a:r>
              <a:rPr lang="en-US" sz="1500" dirty="0" err="1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mnt</a:t>
            </a:r>
            <a:r>
              <a:rPr lang="en-US" sz="1500" dirty="0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/</a:t>
            </a:r>
            <a:r>
              <a:rPr lang="en-US" sz="1500" dirty="0" err="1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DGXUserData</a:t>
            </a:r>
            <a:r>
              <a:rPr lang="en-US" sz="1500" dirty="0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/sxz009/BTCV/</a:t>
            </a:r>
            <a:r>
              <a:rPr lang="en-US" sz="1500" dirty="0" err="1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Fed_Training</a:t>
            </a:r>
            <a:r>
              <a:rPr lang="en-US" sz="1500" dirty="0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/Site_2_Test that is mounted to /workspace/$SITE/</a:t>
            </a:r>
            <a:r>
              <a:rPr lang="en-US" sz="1500" dirty="0" err="1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DataSet</a:t>
            </a:r>
            <a:r>
              <a:rPr lang="en-US" sz="1500" dirty="0">
                <a:solidFill>
                  <a:srgbClr val="FF0000"/>
                </a:solidFill>
                <a:latin typeface="Andale Mono" panose="020B0509000000000004" pitchFamily="49" charset="0"/>
              </a:rPr>
              <a:t>, and ./ is so important</a:t>
            </a:r>
            <a:endParaRPr lang="en-US" sz="1500" dirty="0">
              <a:solidFill>
                <a:srgbClr val="FF0000"/>
              </a:solidFill>
              <a:effectLst/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F0000"/>
                </a:solidFill>
                <a:latin typeface="Andale Mono" panose="020B0509000000000004" pitchFamily="49" charset="0"/>
              </a:rPr>
              <a:t>Look at run_docker_client_2_divided_data_set_PET.sh for PET_CT</a:t>
            </a:r>
          </a:p>
          <a:p>
            <a:pPr marL="0" indent="0">
              <a:buNone/>
            </a:pPr>
            <a:endParaRPr lang="en-US" sz="1500" dirty="0">
              <a:solidFill>
                <a:srgbClr val="FF0000"/>
              </a:solidFill>
              <a:latin typeface="Andale Mono" panose="020B0509000000000004" pitchFamily="49" charset="0"/>
            </a:endParaRPr>
          </a:p>
          <a:p>
            <a:r>
              <a:rPr lang="en-US" sz="1500" dirty="0">
                <a:solidFill>
                  <a:srgbClr val="00B050"/>
                </a:solidFill>
                <a:latin typeface="Andale Mono" panose="020B0509000000000004" pitchFamily="49" charset="0"/>
              </a:rPr>
              <a:t>After running you can find it in “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/workspace/DGX01_AWS/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DataSet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”</a:t>
            </a:r>
            <a:endParaRPr lang="en-US" sz="1500" dirty="0">
              <a:solidFill>
                <a:srgbClr val="00B050"/>
              </a:solidFill>
              <a:latin typeface="Andale Mono" panose="020B0509000000000004" pitchFamily="49" charset="0"/>
            </a:endParaRPr>
          </a:p>
          <a:p>
            <a:pPr marL="0" indent="0">
              <a:buNone/>
            </a:pPr>
            <a:endParaRPr lang="en-US" sz="15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indent="0">
              <a:buNone/>
            </a:pPr>
            <a:endParaRPr lang="en-US" sz="15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80248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A0EF-61E4-CECE-1712-403F2EFB1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en-US" dirty="0"/>
              <a:t>Client: Inside the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77291-D361-6881-3175-9889DC16B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6467867" cy="3450613"/>
          </a:xfrm>
        </p:spPr>
        <p:txBody>
          <a:bodyPr anchor="ctr">
            <a:normAutofit fontScale="85000" lnSpcReduction="10000"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You’ll be inside the docker. If you run “ls” you should see the directory corresponding to the downloaded toolkit from the dashboard. 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”cd” to the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startup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folder inside the directory:: downloaded kit.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From there run ”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start.sh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If the client gets successfully registered, you’</a:t>
            </a:r>
            <a:r>
              <a:rPr lang="en-US" sz="2000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ll see this message: “</a:t>
            </a:r>
            <a:r>
              <a:rPr lang="en-US" sz="2000" i="1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Successfully registered client:… for project </a:t>
            </a:r>
            <a:r>
              <a:rPr lang="en-US" sz="2000" i="1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Test_AWS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Admin will see this in the docker: “</a:t>
            </a:r>
            <a:r>
              <a:rPr lang="en-US" sz="1600" dirty="0">
                <a:effectLst/>
                <a:latin typeface="Menlo" panose="020B0609030804020204" pitchFamily="49" charset="0"/>
              </a:rPr>
              <a:t>INFO - Client: New client …. joined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EBC03FB4-4137-F4CF-120A-9AD076D09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53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43E9-0218-6B1D-402F-5EBF8FC9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a job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9E607-1DAD-340C-6DC8-893BE63A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need to get “</a:t>
            </a:r>
            <a:r>
              <a:rPr lang="en-US" dirty="0" err="1"/>
              <a:t>nvflare</a:t>
            </a:r>
            <a:r>
              <a:rPr lang="en-US" dirty="0"/>
              <a:t>-env” by running: source </a:t>
            </a:r>
            <a:r>
              <a:rPr lang="en-US" dirty="0" err="1"/>
              <a:t>nvflare</a:t>
            </a:r>
            <a:r>
              <a:rPr lang="en-US" dirty="0"/>
              <a:t>-env/bin/activate</a:t>
            </a:r>
          </a:p>
          <a:p>
            <a:endParaRPr lang="en-US" dirty="0"/>
          </a:p>
          <a:p>
            <a:r>
              <a:rPr lang="en-US" dirty="0"/>
              <a:t>On the server, navigate into the the admin directory (admin email address), make a folder called “transfer”.</a:t>
            </a:r>
          </a:p>
          <a:p>
            <a:endParaRPr lang="en-US" dirty="0"/>
          </a:p>
          <a:p>
            <a:r>
              <a:rPr lang="en-US" dirty="0"/>
              <a:t>Copy the job you want to run into the transfer folder.</a:t>
            </a:r>
          </a:p>
          <a:p>
            <a:endParaRPr lang="en-US" dirty="0"/>
          </a:p>
          <a:p>
            <a:r>
              <a:rPr lang="en-US" dirty="0"/>
              <a:t>Again, navigate back to the admin directory/startup and run </a:t>
            </a:r>
            <a:r>
              <a:rPr lang="en-US" dirty="0" err="1"/>
              <a:t>fl_admin.sh</a:t>
            </a:r>
            <a:endParaRPr lang="en-US" dirty="0"/>
          </a:p>
          <a:p>
            <a:endParaRPr lang="en-US" dirty="0"/>
          </a:p>
          <a:p>
            <a:r>
              <a:rPr lang="en-US" dirty="0"/>
              <a:t>Using “?” you can learn about the comments.</a:t>
            </a:r>
          </a:p>
          <a:p>
            <a:r>
              <a:rPr lang="en-US" dirty="0"/>
              <a:t>Use </a:t>
            </a:r>
            <a:r>
              <a:rPr lang="en-US" dirty="0" err="1"/>
              <a:t>submit_job</a:t>
            </a:r>
            <a:r>
              <a:rPr lang="en-US" dirty="0"/>
              <a:t> ”</a:t>
            </a:r>
            <a:r>
              <a:rPr lang="en-US" i="1" dirty="0"/>
              <a:t>name of the folder in Transfer</a:t>
            </a:r>
            <a:r>
              <a:rPr lang="en-US" dirty="0"/>
              <a:t>” to submit the job.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69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0CE1-0014-04DC-48C5-EDD4D2A8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94558-461C-D61F-381B-929BEA700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"train", "</a:t>
            </a:r>
            <a:r>
              <a:rPr lang="en-US" dirty="0" err="1"/>
              <a:t>submit_model</a:t>
            </a:r>
            <a:r>
              <a:rPr lang="en-US" dirty="0"/>
              <a:t>", "validate” </a:t>
            </a:r>
            <a:r>
              <a:rPr lang="en-US" dirty="0" err="1"/>
              <a:t>fpr</a:t>
            </a:r>
            <a:r>
              <a:rPr lang="en-US" dirty="0"/>
              <a:t> cross validation, the validation should happen inside the validate function.</a:t>
            </a:r>
          </a:p>
        </p:txBody>
      </p:sp>
    </p:spTree>
    <p:extLst>
      <p:ext uri="{BB962C8B-B14F-4D97-AF65-F5344CB8AC3E}">
        <p14:creationId xmlns:p14="http://schemas.microsoft.com/office/powerpoint/2010/main" val="2873982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22AF-C37F-4712-6BF9-C731367B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F0422-F57D-AE42-6504-802DFF493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Dataset_train.json</a:t>
            </a:r>
            <a:r>
              <a:rPr lang="en-US" dirty="0"/>
              <a:t> file for training and validation: It should have both training and validation sets.</a:t>
            </a:r>
          </a:p>
          <a:p>
            <a:r>
              <a:rPr lang="en-US" dirty="0"/>
              <a:t>Inside the bash file that runs the docker, the folder containing the dataset should be mounted inside the downloaded kit.</a:t>
            </a:r>
          </a:p>
          <a:p>
            <a:r>
              <a:rPr lang="en-US" dirty="0"/>
              <a:t> </a:t>
            </a:r>
            <a:r>
              <a:rPr lang="en-US" dirty="0" err="1"/>
              <a:t>json</a:t>
            </a:r>
            <a:r>
              <a:rPr lang="en-US" dirty="0"/>
              <a:t> file should be at the first level of the folder that is mounted to the docker, for example if we are mounting -v ./…/</a:t>
            </a:r>
            <a:r>
              <a:rPr lang="en-US" dirty="0" err="1"/>
              <a:t>dir</a:t>
            </a:r>
            <a:r>
              <a:rPr lang="en-US" dirty="0"/>
              <a:t>:/</a:t>
            </a:r>
            <a:r>
              <a:rPr lang="en-US" dirty="0" err="1"/>
              <a:t>src</a:t>
            </a:r>
            <a:r>
              <a:rPr lang="en-US" dirty="0"/>
              <a:t>/Dataset, </a:t>
            </a:r>
            <a:r>
              <a:rPr lang="en-US" dirty="0" err="1"/>
              <a:t>json</a:t>
            </a:r>
            <a:r>
              <a:rPr lang="en-US" dirty="0"/>
              <a:t> file should be inside the </a:t>
            </a:r>
            <a:r>
              <a:rPr lang="en-US" dirty="0" err="1"/>
              <a:t>dir</a:t>
            </a:r>
            <a:r>
              <a:rPr lang="en-US" dirty="0"/>
              <a:t> direction.</a:t>
            </a:r>
          </a:p>
          <a:p>
            <a:r>
              <a:rPr lang="en-US" dirty="0"/>
              <a:t>Also, ”Dataset” name should be specified in </a:t>
            </a:r>
            <a:r>
              <a:rPr lang="en-US" dirty="0" err="1"/>
              <a:t>train_</a:t>
            </a:r>
            <a:r>
              <a:rPr lang="en-US" err="1"/>
              <a:t>config</a:t>
            </a:r>
            <a:r>
              <a:rPr lang="en-US"/>
              <a:t>.json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304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56C0-944D-CDC9-F9AB-5905F5BF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After the job is done: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B35C0-50CB-4C07-BB30-2EC14BEBB476}"/>
              </a:ext>
            </a:extLst>
          </p:cNvPr>
          <p:cNvSpPr txBox="1"/>
          <p:nvPr/>
        </p:nvSpPr>
        <p:spPr>
          <a:xfrm>
            <a:off x="1531917" y="2054431"/>
            <a:ext cx="9122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the folder using &gt;</a:t>
            </a:r>
            <a:r>
              <a:rPr lang="en-US" b="1" dirty="0" err="1">
                <a:effectLst/>
                <a:latin typeface="Menlo" panose="020B0609030804020204" pitchFamily="49" charset="0"/>
              </a:rPr>
              <a:t>download_job</a:t>
            </a:r>
            <a:r>
              <a:rPr lang="en-US" b="1" dirty="0">
                <a:effectLst/>
                <a:latin typeface="Menlo" panose="020B0609030804020204" pitchFamily="49" charset="0"/>
              </a:rPr>
              <a:t> job </a:t>
            </a:r>
            <a:r>
              <a:rPr lang="en-US" b="1" dirty="0" err="1">
                <a:effectLst/>
                <a:latin typeface="Menlo" panose="020B0609030804020204" pitchFamily="49" charset="0"/>
              </a:rPr>
              <a:t>id</a:t>
            </a:r>
            <a:r>
              <a:rPr lang="en-US" dirty="0" err="1">
                <a:effectLst/>
                <a:latin typeface="Menlo" panose="020B0609030804020204" pitchFamily="49" charset="0"/>
              </a:rPr>
              <a:t>in</a:t>
            </a:r>
            <a:r>
              <a:rPr lang="en-US" dirty="0"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effectLst/>
                <a:latin typeface="Menlo" panose="020B0609030804020204" pitchFamily="49" charset="0"/>
              </a:rPr>
              <a:t>fl_admin</a:t>
            </a:r>
            <a:r>
              <a:rPr lang="en-US" dirty="0"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effectLst/>
                <a:latin typeface="Menlo" panose="020B0609030804020204" pitchFamily="49" charset="0"/>
              </a:rPr>
              <a:t>consule</a:t>
            </a:r>
            <a:r>
              <a:rPr lang="en-US" dirty="0">
                <a:effectLst/>
                <a:latin typeface="Menlo" panose="020B0609030804020204" pitchFamily="49" charset="0"/>
              </a:rPr>
              <a:t>, and look the workspace, cross site validation 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77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CAC2DE4-98D4-4D2B-1838-985F7EA96826}"/>
              </a:ext>
            </a:extLst>
          </p:cNvPr>
          <p:cNvSpPr/>
          <p:nvPr/>
        </p:nvSpPr>
        <p:spPr>
          <a:xfrm>
            <a:off x="332509" y="190005"/>
            <a:ext cx="2291937" cy="34913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1- Each site use the code in </a:t>
            </a:r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https://github.com/EpiCuRus-dude/NVFlare-FedLEarning/tree/develop/FlyWheel </a:t>
            </a:r>
            <a:r>
              <a:rPr lang="en-US" dirty="0">
                <a:solidFill>
                  <a:schemeClr val="tx1"/>
                </a:solidFill>
              </a:rPr>
              <a:t>and Download the data.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10FFE7F6-E885-2259-A0B6-AB6B5CD9D05A}"/>
              </a:ext>
            </a:extLst>
          </p:cNvPr>
          <p:cNvSpPr/>
          <p:nvPr/>
        </p:nvSpPr>
        <p:spPr>
          <a:xfrm rot="5400000">
            <a:off x="997525" y="3782293"/>
            <a:ext cx="961904" cy="76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15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1128</Words>
  <Application>Microsoft Macintosh PowerPoint</Application>
  <PresentationFormat>Widescreen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Andale Mono</vt:lpstr>
      <vt:lpstr>Arial</vt:lpstr>
      <vt:lpstr>Calibri</vt:lpstr>
      <vt:lpstr>Calibri Light</vt:lpstr>
      <vt:lpstr>Menlo</vt:lpstr>
      <vt:lpstr>Wingdings</vt:lpstr>
      <vt:lpstr>Office Theme</vt:lpstr>
      <vt:lpstr>PowerPoint Presentation</vt:lpstr>
      <vt:lpstr>PowerPoint Presentation</vt:lpstr>
      <vt:lpstr>Start a dashboard</vt:lpstr>
      <vt:lpstr>Admin: Run the docker on the server to start server</vt:lpstr>
      <vt:lpstr>Number of dockers</vt:lpstr>
      <vt:lpstr>Client: Run the docker</vt:lpstr>
      <vt:lpstr>Copy everything to the server: the running job folder</vt:lpstr>
      <vt:lpstr>Final-siim-1-worked without cross-site validation! PET_CT_FROM_CT_10_2 Worked for two clienbts with cross site-validation</vt:lpstr>
      <vt:lpstr>models</vt:lpstr>
      <vt:lpstr>List make r for the dataset exists here</vt:lpstr>
      <vt:lpstr>Client: Inside the docker</vt:lpstr>
      <vt:lpstr>Run a job</vt:lpstr>
      <vt:lpstr>PowerPoint Presentation</vt:lpstr>
      <vt:lpstr>Dataset</vt:lpstr>
      <vt:lpstr>After the job is done: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Seyed Iman Zare Estakhraji</dc:creator>
  <cp:lastModifiedBy>Iman Zare Estakhraji</cp:lastModifiedBy>
  <cp:revision>7</cp:revision>
  <dcterms:created xsi:type="dcterms:W3CDTF">2023-04-10T21:43:28Z</dcterms:created>
  <dcterms:modified xsi:type="dcterms:W3CDTF">2023-04-28T18:16:43Z</dcterms:modified>
</cp:coreProperties>
</file>